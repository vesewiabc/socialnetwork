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ADFAF-06E4-8482-E97E-C899E20B5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FAB9BD-A857-E2F3-4F81-FCD719DF8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A51C0-79A7-F694-C4B8-AE946813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F5A6FB-5832-83A1-36F3-44349893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36ADC-6BFC-2164-FF34-EEC0B3CE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09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196E2-780B-88F1-CE38-9FC0C137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19908-B3DD-A9D3-DDD0-122226066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90EE7B-5B1D-6F6E-3622-9D13AD1A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852871-45B8-4BFD-1617-705712E7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A0A95B-391E-73E9-4C80-E4F2B3C0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83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54779-3251-1D44-EF79-D21F3DF9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1C7B28-F85E-C042-C231-B7B391D60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F3CAA0-4B93-5838-802D-22C9C703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A17CBE-8D90-8BAD-8CED-9DAA5CC9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28E01-E1BE-F698-F02F-2A748AD9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37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36E40-D272-E87D-7E7F-DCD8DDED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707F2-FD15-0311-6A9F-3622C1145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89A23A-8F3A-0744-00C3-AB1877DCE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14047C-9BAA-ABEF-6BB5-1B9D3989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005C82-DE1A-2AF0-C0A4-2A7D1DB5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D2D179-8AD4-5636-4210-A1BC4F82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0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F46B5-883E-9F3B-C19A-9F750BA6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6A38FF-0E87-9D75-A978-4FD8D83CE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409175-CFE4-08B6-608F-1AB688ABC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8D1962-75B8-BE08-677C-83CABE902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F11488-0725-5760-FFFA-7988515CB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D28734-8A5B-1A27-E903-758A87AE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C1C0F5-5F28-78C8-872A-25F0C1F8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A2CF5A-6FC4-E522-F816-76B55BEB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01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2EFAD-75DE-0519-4005-5D32B10A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717A9B-57E7-830A-9F4F-64D06ABB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5B8D1B-A521-8C77-23D9-A2A79DD0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4A2842-B627-71B8-F244-9E3086E6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751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6E83B5-9736-498A-DDD7-8D15D77FD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B3C6F2-8DC7-AAB2-EEC0-B1F15516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E94DF0-31CD-C1CC-E655-71F8C818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17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67560-63EA-AB86-407A-E6BA5C83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574F6-4750-7AF3-D7BA-7078F7236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8F181B-E989-5A2A-786E-4526A47B2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B458BD-C481-F7A4-58D4-C126D136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844103-6E37-0A04-7CF3-8548742A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94823D-BC68-9C15-11CC-7DBD37F1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32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650B8-6D52-A817-B45C-04279AEF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BD3BAC-9B40-2442-F744-45A1793AD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3DD653-DE0C-2FA6-35E2-5D866542B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0DF049-062A-2390-2003-CE4D1D8F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8B3DC8-57FD-29D7-B57F-59F02E7A4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6C9BBC-64D9-3E83-C2E0-E699A411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82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F8580-87DD-9010-455B-116A2A73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F38CD1-595D-3A31-64D4-54A43E247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3BE44-6AEB-6A9A-A3F9-E54DE264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4F6E6C-D350-1F40-6ADF-6C69FC44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A9424-AD0A-0796-E23E-BE42DEE4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69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ACF9D5-8D7E-80FB-C301-B4E6027A0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1FE1A6-D8A1-5692-EAAA-4CE2B054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6930BD-8562-650F-12B3-A8E36F8D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57935-509A-115B-C0B6-7B1FFE9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5B5F3-15D9-1DC3-82F1-E85AA95E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93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4C9F2-40A1-7A74-5EE4-D0EAB57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6041C2-71E4-B9C1-AE76-4CAE0853D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7A5B80-B59F-F74C-7589-D395AA1C0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3A837-DD87-4A38-A9B8-92CB953033A9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0C9916-6250-E87A-A37F-4FF10B606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BCFF29-9C7B-CEFE-FBA7-AFB24B39C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0574D-B072-473D-852C-5F3A59454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99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03662-84B2-B27E-84D1-AC79F041B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информационной системы парка аттракциона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9863A4-7239-2913-988A-2641C4F7B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1940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Студент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ru-RU" dirty="0" err="1">
                <a:solidFill>
                  <a:srgbClr val="000000"/>
                </a:solidFill>
              </a:rPr>
              <a:t>Чутов</a:t>
            </a:r>
            <a:r>
              <a:rPr lang="ru-RU" dirty="0">
                <a:solidFill>
                  <a:srgbClr val="000000"/>
                </a:solidFill>
              </a:rPr>
              <a:t> Кирилл Денисович </a:t>
            </a:r>
            <a:endParaRPr lang="en-US" dirty="0"/>
          </a:p>
          <a:p>
            <a:r>
              <a:rPr lang="en-US" dirty="0" err="1">
                <a:solidFill>
                  <a:srgbClr val="000000"/>
                </a:solidFill>
              </a:rPr>
              <a:t>Специальность</a:t>
            </a:r>
            <a:r>
              <a:rPr lang="en-US" dirty="0">
                <a:solidFill>
                  <a:srgbClr val="000000"/>
                </a:solidFill>
              </a:rPr>
              <a:t>: 09.02.07 </a:t>
            </a:r>
            <a:r>
              <a:rPr lang="en-US" dirty="0" err="1">
                <a:solidFill>
                  <a:srgbClr val="000000"/>
                </a:solidFill>
              </a:rPr>
              <a:t>Информационные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системы</a:t>
            </a:r>
            <a:r>
              <a:rPr lang="en-US" dirty="0">
                <a:solidFill>
                  <a:srgbClr val="000000"/>
                </a:solidFill>
              </a:rPr>
              <a:t> и </a:t>
            </a:r>
            <a:r>
              <a:rPr lang="en-US" dirty="0" err="1">
                <a:solidFill>
                  <a:srgbClr val="000000"/>
                </a:solidFill>
              </a:rPr>
              <a:t>программирование</a:t>
            </a:r>
            <a:endParaRPr lang="en-US" dirty="0"/>
          </a:p>
          <a:p>
            <a:r>
              <a:rPr lang="en-US" dirty="0" err="1">
                <a:solidFill>
                  <a:srgbClr val="000000"/>
                </a:solidFill>
              </a:rPr>
              <a:t>Группа</a:t>
            </a:r>
            <a:r>
              <a:rPr lang="en-US" dirty="0">
                <a:solidFill>
                  <a:srgbClr val="000000"/>
                </a:solidFill>
              </a:rPr>
              <a:t>: ИСП 34-9   </a:t>
            </a:r>
            <a:r>
              <a:rPr lang="en-US" dirty="0" err="1">
                <a:solidFill>
                  <a:srgbClr val="000000"/>
                </a:solidFill>
              </a:rPr>
              <a:t>Курс</a:t>
            </a:r>
            <a:r>
              <a:rPr lang="en-US" dirty="0">
                <a:solidFill>
                  <a:srgbClr val="000000"/>
                </a:solidFill>
              </a:rPr>
              <a:t>: 3   </a:t>
            </a:r>
            <a:r>
              <a:rPr lang="en-US" dirty="0" err="1">
                <a:solidFill>
                  <a:srgbClr val="000000"/>
                </a:solidFill>
              </a:rPr>
              <a:t>Форма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обучения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en-US" dirty="0" err="1">
                <a:solidFill>
                  <a:srgbClr val="000000"/>
                </a:solidFill>
              </a:rPr>
              <a:t>Очная</a:t>
            </a:r>
            <a:endParaRPr lang="en-US" dirty="0"/>
          </a:p>
          <a:p>
            <a:r>
              <a:rPr lang="en-US" dirty="0" err="1">
                <a:solidFill>
                  <a:srgbClr val="000000"/>
                </a:solidFill>
              </a:rPr>
              <a:t>Ижевск</a:t>
            </a:r>
            <a:r>
              <a:rPr lang="en-US" dirty="0">
                <a:solidFill>
                  <a:srgbClr val="000000"/>
                </a:solidFill>
              </a:rPr>
              <a:t>, 2026</a:t>
            </a:r>
            <a:endParaRPr lang="en-US" dirty="0"/>
          </a:p>
          <a:p>
            <a:endParaRPr lang="ru-RU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ADD31CC-B248-30CA-5D41-DD92231DFF15}"/>
              </a:ext>
            </a:extLst>
          </p:cNvPr>
          <p:cNvSpPr/>
          <p:nvPr/>
        </p:nvSpPr>
        <p:spPr>
          <a:xfrm>
            <a:off x="1981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5A173-002B-94D8-2615-FAEF26C22E37}"/>
              </a:ext>
            </a:extLst>
          </p:cNvPr>
          <p:cNvSpPr txBox="1"/>
          <p:nvPr/>
        </p:nvSpPr>
        <p:spPr>
          <a:xfrm>
            <a:off x="3048000" y="7303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КУРСОВАЯ РАБОТА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F9B20-D88A-0336-A50A-61D6443B03BD}"/>
              </a:ext>
            </a:extLst>
          </p:cNvPr>
          <p:cNvSpPr txBox="1"/>
          <p:nvPr/>
        </p:nvSpPr>
        <p:spPr>
          <a:xfrm>
            <a:off x="2791327" y="57356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0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04579-3E9D-F949-A17A-997817ECD5B7}"/>
              </a:ext>
            </a:extLst>
          </p:cNvPr>
          <p:cNvSpPr txBox="1"/>
          <p:nvPr/>
        </p:nvSpPr>
        <p:spPr>
          <a:xfrm>
            <a:off x="2999875" y="511057"/>
            <a:ext cx="6256422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цель и задачи</a:t>
            </a:r>
            <a:endParaRPr lang="ru-RU" b="1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C500E-BE87-1610-5F31-E2B3F1508C8D}"/>
              </a:ext>
            </a:extLst>
          </p:cNvPr>
          <p:cNvSpPr txBox="1"/>
          <p:nvPr/>
        </p:nvSpPr>
        <p:spPr>
          <a:xfrm>
            <a:off x="256675" y="1970723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b="1" dirty="0"/>
              <a:t>Актуальность: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Парки аттракционов – сложные объекты с множеством процессов</a:t>
            </a:r>
          </a:p>
          <a:p>
            <a:r>
              <a:rPr lang="ru-RU" dirty="0"/>
              <a:t>Отсутствие единой АИС → разрозненность данных и трудозатраты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EF386-B5D4-E066-06CE-2683D37835B6}"/>
              </a:ext>
            </a:extLst>
          </p:cNvPr>
          <p:cNvSpPr txBox="1"/>
          <p:nvPr/>
        </p:nvSpPr>
        <p:spPr>
          <a:xfrm>
            <a:off x="224592" y="48103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Объект:</a:t>
            </a:r>
            <a:r>
              <a:rPr lang="ru-RU" dirty="0"/>
              <a:t> ООО «</a:t>
            </a:r>
            <a:r>
              <a:rPr lang="ru-RU" dirty="0" err="1"/>
              <a:t>АттракционПарк</a:t>
            </a:r>
            <a:r>
              <a:rPr lang="ru-RU" dirty="0"/>
              <a:t>» (28 аттракционов, 45 сотрудников)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EB0C8-B945-944D-F751-303F0EE36433}"/>
              </a:ext>
            </a:extLst>
          </p:cNvPr>
          <p:cNvSpPr txBox="1"/>
          <p:nvPr/>
        </p:nvSpPr>
        <p:spPr>
          <a:xfrm>
            <a:off x="224592" y="39944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Цель:</a:t>
            </a:r>
            <a:r>
              <a:rPr lang="ru-RU" dirty="0"/>
              <a:t> разработка АИС для комплексной автоматизации парка аттракционов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A6722-62EC-CF5D-2D74-C1C154AF5D2D}"/>
              </a:ext>
            </a:extLst>
          </p:cNvPr>
          <p:cNvSpPr txBox="1"/>
          <p:nvPr/>
        </p:nvSpPr>
        <p:spPr>
          <a:xfrm>
            <a:off x="6769768" y="2840303"/>
            <a:ext cx="3737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Задачи: </a:t>
            </a:r>
            <a:r>
              <a:rPr lang="ru-RU" dirty="0"/>
              <a:t>Анализ аналогов</a:t>
            </a:r>
          </a:p>
          <a:p>
            <a:r>
              <a:rPr lang="ru-RU" dirty="0"/>
              <a:t>Характеристика организации</a:t>
            </a:r>
          </a:p>
          <a:p>
            <a:r>
              <a:rPr lang="ru-RU" dirty="0"/>
              <a:t>Разработка ТЗ</a:t>
            </a:r>
          </a:p>
          <a:p>
            <a:r>
              <a:rPr lang="ru-RU" dirty="0"/>
              <a:t>Проектирование БД</a:t>
            </a:r>
          </a:p>
          <a:p>
            <a:r>
              <a:rPr lang="ru-RU" dirty="0"/>
              <a:t>Рекомендации по сопровождению</a:t>
            </a:r>
          </a:p>
        </p:txBody>
      </p:sp>
    </p:spTree>
    <p:extLst>
      <p:ext uri="{BB962C8B-B14F-4D97-AF65-F5344CB8AC3E}">
        <p14:creationId xmlns:p14="http://schemas.microsoft.com/office/powerpoint/2010/main" val="372252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D27DD8-21F2-C7F5-8D84-63EC2402F7AB}"/>
              </a:ext>
            </a:extLst>
          </p:cNvPr>
          <p:cNvSpPr txBox="1"/>
          <p:nvPr/>
        </p:nvSpPr>
        <p:spPr>
          <a:xfrm>
            <a:off x="4219073" y="706318"/>
            <a:ext cx="60960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/>
              <a:t>Анализ аналогов</a:t>
            </a:r>
            <a:endParaRPr lang="ru-RU" sz="36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36037AA-E7BB-763F-350C-67F0E52DE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163937"/>
              </p:ext>
            </p:extLst>
          </p:nvPr>
        </p:nvGraphicFramePr>
        <p:xfrm>
          <a:off x="724618" y="1151376"/>
          <a:ext cx="11248846" cy="545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78">
                  <a:extLst>
                    <a:ext uri="{9D8B030D-6E8A-4147-A177-3AD203B41FA5}">
                      <a16:colId xmlns:a16="http://schemas.microsoft.com/office/drawing/2014/main" val="3287390880"/>
                    </a:ext>
                  </a:extLst>
                </a:gridCol>
                <a:gridCol w="2282942">
                  <a:extLst>
                    <a:ext uri="{9D8B030D-6E8A-4147-A177-3AD203B41FA5}">
                      <a16:colId xmlns:a16="http://schemas.microsoft.com/office/drawing/2014/main" val="3544101806"/>
                    </a:ext>
                  </a:extLst>
                </a:gridCol>
                <a:gridCol w="2282942">
                  <a:extLst>
                    <a:ext uri="{9D8B030D-6E8A-4147-A177-3AD203B41FA5}">
                      <a16:colId xmlns:a16="http://schemas.microsoft.com/office/drawing/2014/main" val="953329379"/>
                    </a:ext>
                  </a:extLst>
                </a:gridCol>
                <a:gridCol w="2282942">
                  <a:extLst>
                    <a:ext uri="{9D8B030D-6E8A-4147-A177-3AD203B41FA5}">
                      <a16:colId xmlns:a16="http://schemas.microsoft.com/office/drawing/2014/main" val="2576363960"/>
                    </a:ext>
                  </a:extLst>
                </a:gridCol>
                <a:gridCol w="2282942">
                  <a:extLst>
                    <a:ext uri="{9D8B030D-6E8A-4147-A177-3AD203B41FA5}">
                      <a16:colId xmlns:a16="http://schemas.microsoft.com/office/drawing/2014/main" val="87114241"/>
                    </a:ext>
                  </a:extLst>
                </a:gridCol>
              </a:tblGrid>
              <a:tr h="848782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Критерий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Парк-Менеджер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Semnox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Parafait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ROLLER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АИС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984846"/>
                  </a:ext>
                </a:extLst>
              </a:tr>
              <a:tr h="1212546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аттракционами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117324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Модуль тех. обслуживания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31010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без Интернета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нет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87239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Стоимость внедрения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Средняя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Низкая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384002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Русскоязычный интерфейс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нет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943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56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CD9137-57D1-B110-655E-42052040A3DA}"/>
              </a:ext>
            </a:extLst>
          </p:cNvPr>
          <p:cNvSpPr txBox="1"/>
          <p:nvPr/>
        </p:nvSpPr>
        <p:spPr>
          <a:xfrm>
            <a:off x="3449054" y="882779"/>
            <a:ext cx="60960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/>
              <a:t>Характеристика организации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7AADA-B47C-F0FF-CC0F-20889584DE25}"/>
              </a:ext>
            </a:extLst>
          </p:cNvPr>
          <p:cNvSpPr txBox="1"/>
          <p:nvPr/>
        </p:nvSpPr>
        <p:spPr>
          <a:xfrm>
            <a:off x="882315" y="1804891"/>
            <a:ext cx="8438147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ООО «</a:t>
            </a:r>
            <a:r>
              <a:rPr lang="ru-RU" sz="2400" b="1" dirty="0" err="1"/>
              <a:t>АттракционПарк</a:t>
            </a:r>
            <a:r>
              <a:rPr lang="ru-RU" sz="2400" b="1" dirty="0"/>
              <a:t>» (г. Ижевск)</a:t>
            </a:r>
            <a:endParaRPr lang="ru-RU" sz="2400" dirty="0"/>
          </a:p>
          <a:p>
            <a:r>
              <a:rPr lang="ru-RU" sz="2400" dirty="0"/>
              <a:t>28 аттракционов (детские, семейные, экстремальные, интерактивные)</a:t>
            </a:r>
          </a:p>
          <a:p>
            <a:r>
              <a:rPr lang="ru-RU" sz="2400" dirty="0"/>
              <a:t>45 сотрудников</a:t>
            </a:r>
          </a:p>
          <a:p>
            <a:r>
              <a:rPr lang="ru-RU" sz="2400" dirty="0"/>
              <a:t>Посещаемость: 400–600 (будни), 1500–2000 (выходные)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96544-3BC5-897E-D6D6-4FCDA2B6E446}"/>
              </a:ext>
            </a:extLst>
          </p:cNvPr>
          <p:cNvSpPr txBox="1"/>
          <p:nvPr/>
        </p:nvSpPr>
        <p:spPr>
          <a:xfrm>
            <a:off x="882315" y="386816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Существующие проблемы:</a:t>
            </a:r>
            <a:endParaRPr lang="ru-RU" sz="2400" dirty="0"/>
          </a:p>
          <a:p>
            <a:r>
              <a:rPr lang="ru-RU" sz="2400" dirty="0"/>
              <a:t>Разрозненные таблицы Excel</a:t>
            </a:r>
          </a:p>
          <a:p>
            <a:r>
              <a:rPr lang="ru-RU" sz="2400" dirty="0"/>
              <a:t>Бумажные журналы ТО</a:t>
            </a:r>
          </a:p>
          <a:p>
            <a:r>
              <a:rPr lang="ru-RU" sz="2400" dirty="0"/>
              <a:t>Нет оперативного контроля состояния аттракционов</a:t>
            </a:r>
          </a:p>
          <a:p>
            <a:r>
              <a:rPr lang="ru-RU" sz="2400" dirty="0"/>
              <a:t>Высокие трудозатраты на отчётность</a:t>
            </a:r>
          </a:p>
        </p:txBody>
      </p:sp>
    </p:spTree>
    <p:extLst>
      <p:ext uri="{BB962C8B-B14F-4D97-AF65-F5344CB8AC3E}">
        <p14:creationId xmlns:p14="http://schemas.microsoft.com/office/powerpoint/2010/main" val="185298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1DA8CD-BD1D-F59D-D918-F40709D23361}"/>
              </a:ext>
            </a:extLst>
          </p:cNvPr>
          <p:cNvSpPr txBox="1"/>
          <p:nvPr/>
        </p:nvSpPr>
        <p:spPr>
          <a:xfrm>
            <a:off x="3930315" y="846975"/>
            <a:ext cx="6096000" cy="44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/>
              <a:t>Архитектура АИС</a:t>
            </a:r>
            <a:r>
              <a:rPr lang="ru-RU" sz="3600" b="1" dirty="0">
                <a:solidFill>
                  <a:srgbClr val="F9FAFB"/>
                </a:solidFill>
                <a:effectLst/>
                <a:latin typeface="quote-cjk-patch"/>
              </a:rPr>
              <a:t>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AE734-0038-19E9-73F9-EE0D4140EA19}"/>
              </a:ext>
            </a:extLst>
          </p:cNvPr>
          <p:cNvSpPr txBox="1"/>
          <p:nvPr/>
        </p:nvSpPr>
        <p:spPr>
          <a:xfrm>
            <a:off x="882315" y="1540638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Трёхзвенная архитектура:</a:t>
            </a:r>
            <a:endParaRPr lang="ru-RU" sz="2400" dirty="0"/>
          </a:p>
          <a:p>
            <a:r>
              <a:rPr lang="ru-RU" sz="2400" dirty="0"/>
              <a:t>Уровень представления (</a:t>
            </a:r>
            <a:r>
              <a:rPr lang="en-US" sz="2400" dirty="0"/>
              <a:t>Web-</a:t>
            </a:r>
            <a:r>
              <a:rPr lang="ru-RU" sz="2400" dirty="0"/>
              <a:t>интерфейс </a:t>
            </a:r>
            <a:r>
              <a:rPr lang="en-US" sz="2400" dirty="0"/>
              <a:t>HTML/CSS/JS)</a:t>
            </a:r>
          </a:p>
          <a:p>
            <a:r>
              <a:rPr lang="ru-RU" sz="2400" dirty="0"/>
              <a:t>Уровень бизнес-логики (</a:t>
            </a:r>
            <a:r>
              <a:rPr lang="en-US" sz="2400" dirty="0"/>
              <a:t>Python + Flask)</a:t>
            </a:r>
          </a:p>
          <a:p>
            <a:r>
              <a:rPr lang="ru-RU" sz="2400" dirty="0"/>
              <a:t>Уровень доступа к данным (</a:t>
            </a:r>
            <a:r>
              <a:rPr lang="en-US" sz="2400" dirty="0"/>
              <a:t>SQLite)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CD546-4A6F-29F4-4105-A7FBED8A6E05}"/>
              </a:ext>
            </a:extLst>
          </p:cNvPr>
          <p:cNvSpPr txBox="1"/>
          <p:nvPr/>
        </p:nvSpPr>
        <p:spPr>
          <a:xfrm>
            <a:off x="882315" y="4159123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Технологии:</a:t>
            </a:r>
            <a:endParaRPr lang="ru-RU" sz="2400" dirty="0"/>
          </a:p>
          <a:p>
            <a:r>
              <a:rPr lang="en-US" sz="2400" dirty="0"/>
              <a:t>Backend: Python, Flask</a:t>
            </a:r>
          </a:p>
          <a:p>
            <a:r>
              <a:rPr lang="en-US" sz="2400" dirty="0"/>
              <a:t>Frontend: HTML5, CSS3, JavaScript</a:t>
            </a:r>
          </a:p>
          <a:p>
            <a:r>
              <a:rPr lang="ru-RU" sz="2400" dirty="0"/>
              <a:t>СУБД: </a:t>
            </a:r>
            <a:r>
              <a:rPr lang="en-US" sz="2400" dirty="0"/>
              <a:t>SQLite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211B3-5C13-34E0-A46E-11F121F1D8EA}"/>
              </a:ext>
            </a:extLst>
          </p:cNvPr>
          <p:cNvSpPr txBox="1"/>
          <p:nvPr/>
        </p:nvSpPr>
        <p:spPr>
          <a:xfrm>
            <a:off x="6320590" y="3310353"/>
            <a:ext cx="5470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Преимущества:</a:t>
            </a:r>
            <a:r>
              <a:rPr lang="ru-RU" sz="2400" dirty="0"/>
              <a:t> простота развёртывания, не требует сервера БД, лицензия бесплатная</a:t>
            </a:r>
          </a:p>
        </p:txBody>
      </p:sp>
    </p:spTree>
    <p:extLst>
      <p:ext uri="{BB962C8B-B14F-4D97-AF65-F5344CB8AC3E}">
        <p14:creationId xmlns:p14="http://schemas.microsoft.com/office/powerpoint/2010/main" val="170220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19F5662-5811-AD2C-94B8-603778434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34452"/>
              </p:ext>
            </p:extLst>
          </p:nvPr>
        </p:nvGraphicFramePr>
        <p:xfrm>
          <a:off x="1042737" y="786062"/>
          <a:ext cx="10069094" cy="431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6526">
                  <a:extLst>
                    <a:ext uri="{9D8B030D-6E8A-4147-A177-3AD203B41FA5}">
                      <a16:colId xmlns:a16="http://schemas.microsoft.com/office/drawing/2014/main" val="1529468489"/>
                    </a:ext>
                  </a:extLst>
                </a:gridCol>
                <a:gridCol w="5042568">
                  <a:extLst>
                    <a:ext uri="{9D8B030D-6E8A-4147-A177-3AD203B41FA5}">
                      <a16:colId xmlns:a16="http://schemas.microsoft.com/office/drawing/2014/main" val="1099127477"/>
                    </a:ext>
                  </a:extLst>
                </a:gridCol>
              </a:tblGrid>
              <a:tr h="753634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Роль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Доступные разделы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850611"/>
                  </a:ext>
                </a:extLst>
              </a:tr>
              <a:tr h="753634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разделы системы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44810"/>
                  </a:ext>
                </a:extLst>
              </a:tr>
              <a:tr h="1300792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Менеджер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Дашборд, Отчёты, Персонал (просмотр)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316865"/>
                  </a:ext>
                </a:extLst>
              </a:tr>
              <a:tr h="753634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Кассир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Дашборд, Билеты (продажа и история)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969215"/>
                  </a:ext>
                </a:extLst>
              </a:tr>
              <a:tr h="753634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Техник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Дашборд, Техобслуживание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13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F17980-B894-C8DB-5C98-55B6C2B28A78}"/>
              </a:ext>
            </a:extLst>
          </p:cNvPr>
          <p:cNvSpPr txBox="1"/>
          <p:nvPr/>
        </p:nvSpPr>
        <p:spPr>
          <a:xfrm>
            <a:off x="1839495" y="5425607"/>
            <a:ext cx="9272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Разграничение доступа</a:t>
            </a:r>
            <a:r>
              <a:rPr lang="ru-RU" sz="2400" dirty="0"/>
              <a:t> реализовано на уровне интерфейса и бизнес-логики</a:t>
            </a:r>
          </a:p>
        </p:txBody>
      </p:sp>
    </p:spTree>
    <p:extLst>
      <p:ext uri="{BB962C8B-B14F-4D97-AF65-F5344CB8AC3E}">
        <p14:creationId xmlns:p14="http://schemas.microsoft.com/office/powerpoint/2010/main" val="231863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83BD6-6A50-36F7-7B77-37EBD53F5F98}"/>
              </a:ext>
            </a:extLst>
          </p:cNvPr>
          <p:cNvSpPr txBox="1"/>
          <p:nvPr/>
        </p:nvSpPr>
        <p:spPr>
          <a:xfrm>
            <a:off x="1748590" y="650793"/>
            <a:ext cx="9304419" cy="47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4400" b="1" dirty="0"/>
              <a:t>Функциональные модули системы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D621C-5E51-4099-0F7D-71742F64139D}"/>
              </a:ext>
            </a:extLst>
          </p:cNvPr>
          <p:cNvSpPr txBox="1"/>
          <p:nvPr/>
        </p:nvSpPr>
        <p:spPr>
          <a:xfrm>
            <a:off x="336884" y="1505122"/>
            <a:ext cx="82777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Управление аттракционами</a:t>
            </a:r>
            <a:r>
              <a:rPr lang="ru-RU" sz="2800" dirty="0"/>
              <a:t> – реестр, статусы, фильтрация</a:t>
            </a:r>
          </a:p>
          <a:p>
            <a:r>
              <a:rPr lang="ru-RU" sz="2800" b="1" dirty="0"/>
              <a:t>Продажа билетов</a:t>
            </a:r>
            <a:r>
              <a:rPr lang="ru-RU" sz="2800" dirty="0"/>
              <a:t> – кассовые операции, история, предпросмотр</a:t>
            </a:r>
          </a:p>
          <a:p>
            <a:r>
              <a:rPr lang="ru-RU" sz="2800" b="1" dirty="0"/>
              <a:t>Техническое обслуживание</a:t>
            </a:r>
            <a:r>
              <a:rPr lang="ru-RU" sz="2800" dirty="0"/>
              <a:t> – журнал ТО, смена статуса аттракциона</a:t>
            </a:r>
          </a:p>
          <a:p>
            <a:r>
              <a:rPr lang="ru-RU" sz="2800" b="1" dirty="0"/>
              <a:t>Управление персоналом</a:t>
            </a:r>
            <a:r>
              <a:rPr lang="ru-RU" sz="2800" dirty="0"/>
              <a:t> – учёт сотрудников, роли</a:t>
            </a:r>
          </a:p>
          <a:p>
            <a:r>
              <a:rPr lang="ru-RU" sz="2800" b="1" dirty="0"/>
              <a:t>Аналитика и отчёты</a:t>
            </a:r>
            <a:r>
              <a:rPr lang="ru-RU" sz="2800" dirty="0"/>
              <a:t> – выручка, популярность, статусы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90624-A0CA-0333-6597-25E0BC55DEDC}"/>
              </a:ext>
            </a:extLst>
          </p:cNvPr>
          <p:cNvSpPr txBox="1"/>
          <p:nvPr/>
        </p:nvSpPr>
        <p:spPr>
          <a:xfrm>
            <a:off x="336884" y="5609546"/>
            <a:ext cx="101706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Жизненный цикл аттракциона:</a:t>
            </a:r>
            <a:r>
              <a:rPr lang="ru-RU" sz="2400" dirty="0"/>
              <a:t> работает → на обслуживании → неисправен → </a:t>
            </a:r>
            <a:r>
              <a:rPr lang="ru-RU" sz="2400" dirty="0" err="1"/>
              <a:t>работает</a:t>
            </a:r>
            <a:r>
              <a:rPr lang="ru-RU" sz="2400" b="1" i="0" dirty="0" err="1">
                <a:solidFill>
                  <a:srgbClr val="F9FAFB"/>
                </a:solidFill>
                <a:effectLst/>
                <a:latin typeface="quote-cjk-patch"/>
              </a:rPr>
              <a:t>Жизненный</a:t>
            </a:r>
            <a:r>
              <a:rPr lang="ru-RU" sz="2400" b="1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цикл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263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678B9-1B76-CE14-E94B-7E23D76C8325}"/>
              </a:ext>
            </a:extLst>
          </p:cNvPr>
          <p:cNvSpPr txBox="1"/>
          <p:nvPr/>
        </p:nvSpPr>
        <p:spPr>
          <a:xfrm>
            <a:off x="1941095" y="674232"/>
            <a:ext cx="9095873" cy="47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4400" b="1" dirty="0"/>
              <a:t>Мероприятия по сопровождению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9BA20C1-DBC0-6ED1-153E-6E242908D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092134"/>
              </p:ext>
            </p:extLst>
          </p:nvPr>
        </p:nvGraphicFramePr>
        <p:xfrm>
          <a:off x="1283369" y="1337575"/>
          <a:ext cx="1012256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189">
                  <a:extLst>
                    <a:ext uri="{9D8B030D-6E8A-4147-A177-3AD203B41FA5}">
                      <a16:colId xmlns:a16="http://schemas.microsoft.com/office/drawing/2014/main" val="4047830585"/>
                    </a:ext>
                  </a:extLst>
                </a:gridCol>
                <a:gridCol w="3374189">
                  <a:extLst>
                    <a:ext uri="{9D8B030D-6E8A-4147-A177-3AD203B41FA5}">
                      <a16:colId xmlns:a16="http://schemas.microsoft.com/office/drawing/2014/main" val="3382004354"/>
                    </a:ext>
                  </a:extLst>
                </a:gridCol>
                <a:gridCol w="3374189">
                  <a:extLst>
                    <a:ext uri="{9D8B030D-6E8A-4147-A177-3AD203B41FA5}">
                      <a16:colId xmlns:a16="http://schemas.microsoft.com/office/drawing/2014/main" val="2673293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solidFill>
                            <a:srgbClr val="F9FAFB"/>
                          </a:solidFill>
                          <a:effectLst/>
                          <a:latin typeface="quote-cjk-patch"/>
                        </a:rPr>
                        <a:t>Вид работ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Периодичность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Ответственный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44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Резервное копирование БД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Ежедневно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30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Проверка журналов ошибок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Еженедельно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Обновление ПО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Ежеквартально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ИТ-специалист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39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Аудит прав доступа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Ежеквартально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8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Обучение новых сотрудников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мере необходимости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Администратор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5525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B7E38E-2E04-04A9-A8B3-544B47987DAB}"/>
              </a:ext>
            </a:extLst>
          </p:cNvPr>
          <p:cNvSpPr txBox="1"/>
          <p:nvPr/>
        </p:nvSpPr>
        <p:spPr>
          <a:xfrm>
            <a:off x="1283369" y="5520425"/>
            <a:ext cx="8758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Резервное копирование:</a:t>
            </a:r>
            <a:r>
              <a:rPr lang="ru-RU" sz="2400" dirty="0"/>
              <a:t> 7 ежедневных + 3 ежемесячных копии</a:t>
            </a:r>
          </a:p>
        </p:txBody>
      </p:sp>
    </p:spTree>
    <p:extLst>
      <p:ext uri="{BB962C8B-B14F-4D97-AF65-F5344CB8AC3E}">
        <p14:creationId xmlns:p14="http://schemas.microsoft.com/office/powerpoint/2010/main" val="296327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45D695-FA16-3E43-0C4C-324505611931}"/>
              </a:ext>
            </a:extLst>
          </p:cNvPr>
          <p:cNvSpPr txBox="1"/>
          <p:nvPr/>
        </p:nvSpPr>
        <p:spPr>
          <a:xfrm>
            <a:off x="1828800" y="610065"/>
            <a:ext cx="9705474" cy="47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4400" b="1" dirty="0"/>
              <a:t>Рекомендации по развитию системы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2BE70-04D9-1579-C458-90F07ECF52C1}"/>
              </a:ext>
            </a:extLst>
          </p:cNvPr>
          <p:cNvSpPr txBox="1"/>
          <p:nvPr/>
        </p:nvSpPr>
        <p:spPr>
          <a:xfrm>
            <a:off x="585537" y="1642414"/>
            <a:ext cx="108364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Пять направлений развития:</a:t>
            </a:r>
            <a:endParaRPr lang="ru-RU" sz="2400" dirty="0"/>
          </a:p>
          <a:p>
            <a:r>
              <a:rPr lang="ru-RU" sz="2400" b="1" dirty="0"/>
              <a:t>Интеграция с онлайн-каналами продаж</a:t>
            </a:r>
            <a:r>
              <a:rPr lang="ru-RU" sz="2400" dirty="0"/>
              <a:t> – API для сайта и мобильного приложения</a:t>
            </a:r>
          </a:p>
          <a:p>
            <a:r>
              <a:rPr lang="ru-RU" sz="2400" b="1" dirty="0"/>
              <a:t>Расширение аналитики</a:t>
            </a:r>
            <a:r>
              <a:rPr lang="ru-RU" sz="2400" dirty="0"/>
              <a:t> – прогнозирование посещаемости</a:t>
            </a:r>
          </a:p>
          <a:p>
            <a:r>
              <a:rPr lang="ru-RU" sz="2400" b="1" dirty="0"/>
              <a:t>Мобильный клиент для техников</a:t>
            </a:r>
            <a:r>
              <a:rPr lang="ru-RU" sz="2400" dirty="0"/>
              <a:t> – офлайн-синхронизация</a:t>
            </a:r>
          </a:p>
          <a:p>
            <a:r>
              <a:rPr lang="ru-RU" sz="2400" b="1" dirty="0"/>
              <a:t>Переход на </a:t>
            </a:r>
            <a:r>
              <a:rPr lang="ru-RU" sz="2400" b="1" dirty="0" err="1"/>
              <a:t>PostgreSQL</a:t>
            </a:r>
            <a:r>
              <a:rPr lang="ru-RU" sz="2400" dirty="0"/>
              <a:t> – для многопользовательской работы</a:t>
            </a:r>
          </a:p>
          <a:p>
            <a:r>
              <a:rPr lang="ru-RU" sz="2400" b="1" dirty="0"/>
              <a:t>Интеграция с системами безопасности</a:t>
            </a:r>
            <a:r>
              <a:rPr lang="ru-RU" sz="2400" dirty="0"/>
              <a:t> – турникеты, видео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96A09-8650-217C-5473-A71EE928A748}"/>
              </a:ext>
            </a:extLst>
          </p:cNvPr>
          <p:cNvSpPr txBox="1"/>
          <p:nvPr/>
        </p:nvSpPr>
        <p:spPr>
          <a:xfrm>
            <a:off x="521369" y="4880302"/>
            <a:ext cx="11012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Очерёдность:</a:t>
            </a:r>
            <a:r>
              <a:rPr lang="ru-RU" sz="2400" dirty="0"/>
              <a:t> </a:t>
            </a:r>
            <a:r>
              <a:rPr lang="ru-RU" sz="2400" dirty="0" err="1"/>
              <a:t>PostgreSQL</a:t>
            </a:r>
            <a:r>
              <a:rPr lang="ru-RU" sz="2400" dirty="0"/>
              <a:t> и мобильный клиент → онлайн-продажи → аналитика → безопасность</a:t>
            </a:r>
          </a:p>
        </p:txBody>
      </p:sp>
    </p:spTree>
    <p:extLst>
      <p:ext uri="{BB962C8B-B14F-4D97-AF65-F5344CB8AC3E}">
        <p14:creationId xmlns:p14="http://schemas.microsoft.com/office/powerpoint/2010/main" val="393064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53987-3F73-B8A7-0544-DFFCC3AA0DEC}"/>
              </a:ext>
            </a:extLst>
          </p:cNvPr>
          <p:cNvSpPr txBox="1"/>
          <p:nvPr/>
        </p:nvSpPr>
        <p:spPr>
          <a:xfrm>
            <a:off x="3256548" y="481727"/>
            <a:ext cx="6096000" cy="47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4400" b="1"/>
              <a:t>Ожидаемые результаты</a:t>
            </a:r>
            <a:endParaRPr lang="ru-RU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CBD0C-DF9A-FE85-4384-63614A8B3774}"/>
              </a:ext>
            </a:extLst>
          </p:cNvPr>
          <p:cNvSpPr txBox="1"/>
          <p:nvPr/>
        </p:nvSpPr>
        <p:spPr>
          <a:xfrm>
            <a:off x="786063" y="1427383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От внедрения АИС:</a:t>
            </a:r>
            <a:endParaRPr lang="ru-RU" sz="2400" dirty="0"/>
          </a:p>
          <a:p>
            <a:r>
              <a:rPr lang="ru-RU" sz="2400" dirty="0"/>
              <a:t>Снижение трудозатрат на отчётность на </a:t>
            </a:r>
            <a:r>
              <a:rPr lang="ru-RU" sz="2400" b="1" dirty="0"/>
              <a:t>40-50%</a:t>
            </a:r>
            <a:endParaRPr lang="ru-RU" sz="2400" dirty="0"/>
          </a:p>
          <a:p>
            <a:r>
              <a:rPr lang="ru-RU" sz="2400" dirty="0"/>
              <a:t>Своевременный контроль ТО аттракционов</a:t>
            </a:r>
          </a:p>
          <a:p>
            <a:r>
              <a:rPr lang="ru-RU" sz="2400" dirty="0"/>
              <a:t>Снижение простоев оборудования на </a:t>
            </a:r>
            <a:r>
              <a:rPr lang="ru-RU" sz="2400" b="1" dirty="0"/>
              <a:t>30-40%</a:t>
            </a:r>
            <a:endParaRPr lang="ru-RU" sz="2400" dirty="0"/>
          </a:p>
          <a:p>
            <a:r>
              <a:rPr lang="ru-RU" sz="2400" dirty="0"/>
              <a:t>Повышение качества управленческих решений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8430A-3642-61EA-649A-7BF54320D00C}"/>
              </a:ext>
            </a:extLst>
          </p:cNvPr>
          <p:cNvSpPr txBox="1"/>
          <p:nvPr/>
        </p:nvSpPr>
        <p:spPr>
          <a:xfrm>
            <a:off x="786063" y="4599620"/>
            <a:ext cx="112615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Гипотеза подтверждена:</a:t>
            </a:r>
            <a:r>
              <a:rPr lang="ru-RU" sz="2400" dirty="0"/>
              <a:t> систематическое сопровождение повышает надёжность и эффективность АИС</a:t>
            </a:r>
          </a:p>
        </p:txBody>
      </p:sp>
    </p:spTree>
    <p:extLst>
      <p:ext uri="{BB962C8B-B14F-4D97-AF65-F5344CB8AC3E}">
        <p14:creationId xmlns:p14="http://schemas.microsoft.com/office/powerpoint/2010/main" val="299806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7FF8E6-B888-1569-7C17-7DE6EF52D232}"/>
              </a:ext>
            </a:extLst>
          </p:cNvPr>
          <p:cNvSpPr txBox="1"/>
          <p:nvPr/>
        </p:nvSpPr>
        <p:spPr>
          <a:xfrm>
            <a:off x="4283241" y="706318"/>
            <a:ext cx="6096000" cy="47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4400" b="1" dirty="0"/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57A8C-D043-73EE-48B4-2025214B910D}"/>
              </a:ext>
            </a:extLst>
          </p:cNvPr>
          <p:cNvSpPr txBox="1"/>
          <p:nvPr/>
        </p:nvSpPr>
        <p:spPr>
          <a:xfrm>
            <a:off x="529389" y="1654349"/>
            <a:ext cx="8181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В ходе работы выполнено:</a:t>
            </a:r>
            <a:endParaRPr lang="ru-RU" sz="2400" dirty="0"/>
          </a:p>
          <a:p>
            <a:r>
              <a:rPr lang="ru-RU" sz="2400" dirty="0"/>
              <a:t>Проведён анализ аналогов и предметной области</a:t>
            </a:r>
          </a:p>
          <a:p>
            <a:r>
              <a:rPr lang="ru-RU" sz="2400" dirty="0"/>
              <a:t>Разработано техническое задание</a:t>
            </a:r>
          </a:p>
          <a:p>
            <a:r>
              <a:rPr lang="ru-RU" sz="2400" dirty="0"/>
              <a:t>Спроектирована логическая модель БД (8 таблиц, 3НФ)</a:t>
            </a:r>
          </a:p>
          <a:p>
            <a:r>
              <a:rPr lang="ru-RU" sz="2400" dirty="0"/>
              <a:t>Реализована физическая модель (</a:t>
            </a:r>
            <a:r>
              <a:rPr lang="ru-RU" sz="2400" dirty="0" err="1"/>
              <a:t>SQLite</a:t>
            </a:r>
            <a:r>
              <a:rPr lang="ru-RU" sz="2400" dirty="0"/>
              <a:t>)</a:t>
            </a:r>
          </a:p>
          <a:p>
            <a:r>
              <a:rPr lang="ru-RU" sz="2400" dirty="0"/>
              <a:t>Сформулированы рекомендации по сопровождению и развитию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A88FB-2529-A84B-F01D-BB27BDCCDEA6}"/>
              </a:ext>
            </a:extLst>
          </p:cNvPr>
          <p:cNvSpPr txBox="1"/>
          <p:nvPr/>
        </p:nvSpPr>
        <p:spPr>
          <a:xfrm>
            <a:off x="529389" y="5349394"/>
            <a:ext cx="114540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Поставленная цель достигнута</a:t>
            </a:r>
            <a:r>
              <a:rPr lang="ru-RU" sz="2400" dirty="0"/>
              <a:t> – разработана АИС сопровождения парка аттракционов</a:t>
            </a:r>
          </a:p>
        </p:txBody>
      </p:sp>
    </p:spTree>
    <p:extLst>
      <p:ext uri="{BB962C8B-B14F-4D97-AF65-F5344CB8AC3E}">
        <p14:creationId xmlns:p14="http://schemas.microsoft.com/office/powerpoint/2010/main" val="343355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A0C26-2CB4-016E-7AB2-EFD52E68F273}"/>
              </a:ext>
            </a:extLst>
          </p:cNvPr>
          <p:cNvSpPr txBox="1"/>
          <p:nvPr/>
        </p:nvSpPr>
        <p:spPr>
          <a:xfrm>
            <a:off x="3048000" y="9148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ПРОФЕССИОНАЛЬНОЕ ОБРАЗОВАТЕЛЬНОЕ ЧАСТНОЕ УЧРЕЖДЕНИЕ</a:t>
            </a:r>
            <a:endParaRPr lang="en-US" dirty="0"/>
          </a:p>
          <a:p>
            <a:pPr algn="ctr"/>
            <a:r>
              <a:rPr lang="en-US" dirty="0">
                <a:solidFill>
                  <a:srgbClr val="000000"/>
                </a:solidFill>
              </a:rPr>
              <a:t>«ИЖЕВСКИЙ ТЕХНИКУМ ЭКОНОМИКИ, УПРАВЛЕНИЯ И ПРАВА УДМУРТПОТРЕБСОЮЗА»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070C2-8AF0-C48A-6664-B4E3D5DD87A8}"/>
              </a:ext>
            </a:extLst>
          </p:cNvPr>
          <p:cNvSpPr txBox="1"/>
          <p:nvPr/>
        </p:nvSpPr>
        <p:spPr>
          <a:xfrm>
            <a:off x="3047999" y="24765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КУРСОВАЯ РАБОТА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4F554-01E8-ABF6-C3E0-DF63200C3096}"/>
              </a:ext>
            </a:extLst>
          </p:cNvPr>
          <p:cNvSpPr txBox="1"/>
          <p:nvPr/>
        </p:nvSpPr>
        <p:spPr>
          <a:xfrm>
            <a:off x="3047999" y="3059668"/>
            <a:ext cx="65933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00000"/>
                </a:solidFill>
              </a:rPr>
              <a:t>Сопровождение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информационной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rgbClr val="000000"/>
                </a:solidFill>
              </a:rPr>
              <a:t>системы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r>
              <a:rPr lang="ru-RU" sz="2000" b="1" dirty="0">
                <a:solidFill>
                  <a:srgbClr val="000000"/>
                </a:solidFill>
              </a:rPr>
              <a:t>парка аттракциона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AD2B9-ECEF-9E2C-3D41-90007CEBFC3B}"/>
              </a:ext>
            </a:extLst>
          </p:cNvPr>
          <p:cNvSpPr txBox="1"/>
          <p:nvPr/>
        </p:nvSpPr>
        <p:spPr>
          <a:xfrm>
            <a:off x="2743200" y="386542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Студент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r>
              <a:rPr lang="ru-RU" sz="2000" dirty="0" err="1">
                <a:solidFill>
                  <a:srgbClr val="000000"/>
                </a:solidFill>
              </a:rPr>
              <a:t>Чутов</a:t>
            </a:r>
            <a:r>
              <a:rPr lang="ru-RU" sz="2000" dirty="0">
                <a:solidFill>
                  <a:srgbClr val="000000"/>
                </a:solidFill>
              </a:rPr>
              <a:t> Кирилл Денисович 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Специальность</a:t>
            </a:r>
            <a:r>
              <a:rPr lang="en-US" sz="2000" dirty="0">
                <a:solidFill>
                  <a:srgbClr val="000000"/>
                </a:solidFill>
              </a:rPr>
              <a:t>: 09.02.07 </a:t>
            </a:r>
            <a:r>
              <a:rPr lang="en-US" sz="2000" dirty="0" err="1">
                <a:solidFill>
                  <a:srgbClr val="000000"/>
                </a:solidFill>
              </a:rPr>
              <a:t>Информационные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системы</a:t>
            </a:r>
            <a:r>
              <a:rPr lang="en-US" sz="2000" dirty="0">
                <a:solidFill>
                  <a:srgbClr val="000000"/>
                </a:solidFill>
              </a:rPr>
              <a:t> и </a:t>
            </a:r>
            <a:r>
              <a:rPr lang="en-US" sz="2000" dirty="0" err="1">
                <a:solidFill>
                  <a:srgbClr val="000000"/>
                </a:solidFill>
              </a:rPr>
              <a:t>программирование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Группа</a:t>
            </a:r>
            <a:r>
              <a:rPr lang="en-US" sz="2000" dirty="0">
                <a:solidFill>
                  <a:srgbClr val="000000"/>
                </a:solidFill>
              </a:rPr>
              <a:t>: ИСП 34-9   </a:t>
            </a:r>
            <a:r>
              <a:rPr lang="en-US" sz="2000" dirty="0" err="1">
                <a:solidFill>
                  <a:srgbClr val="000000"/>
                </a:solidFill>
              </a:rPr>
              <a:t>Курс</a:t>
            </a:r>
            <a:r>
              <a:rPr lang="en-US" sz="2000" dirty="0">
                <a:solidFill>
                  <a:srgbClr val="000000"/>
                </a:solidFill>
              </a:rPr>
              <a:t>: 3   </a:t>
            </a:r>
            <a:r>
              <a:rPr lang="en-US" sz="2000" dirty="0" err="1">
                <a:solidFill>
                  <a:srgbClr val="000000"/>
                </a:solidFill>
              </a:rPr>
              <a:t>Форма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обучения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r>
              <a:rPr lang="en-US" sz="2000" dirty="0" err="1">
                <a:solidFill>
                  <a:srgbClr val="000000"/>
                </a:solidFill>
              </a:rPr>
              <a:t>Очная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0000"/>
                </a:solidFill>
              </a:rPr>
              <a:t>Ижевск</a:t>
            </a:r>
            <a:r>
              <a:rPr lang="en-US" sz="2000" dirty="0">
                <a:solidFill>
                  <a:srgbClr val="000000"/>
                </a:solidFill>
              </a:rPr>
              <a:t>, 2026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4C9BC-F70A-5F38-6E01-09BB81A01E63}"/>
              </a:ext>
            </a:extLst>
          </p:cNvPr>
          <p:cNvSpPr txBox="1"/>
          <p:nvPr/>
        </p:nvSpPr>
        <p:spPr>
          <a:xfrm>
            <a:off x="2743200" y="5758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Спасибо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за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внимание</a:t>
            </a:r>
            <a:r>
              <a:rPr lang="en-US" sz="2400" b="1" dirty="0">
                <a:solidFill>
                  <a:srgbClr val="000000"/>
                </a:solidFill>
              </a:rPr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55562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592</Words>
  <Application>Microsoft Office PowerPoint</Application>
  <PresentationFormat>Широкоэкранный</PresentationFormat>
  <Paragraphs>141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quote-cjk-patch</vt:lpstr>
      <vt:lpstr>Times New Roman</vt:lpstr>
      <vt:lpstr>Тема Office</vt:lpstr>
      <vt:lpstr>Сопровождение информационной системы парка аттракциона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Семёнов Егор</dc:creator>
  <cp:lastModifiedBy>Семёнов Егор</cp:lastModifiedBy>
  <cp:revision>1</cp:revision>
  <dcterms:created xsi:type="dcterms:W3CDTF">2026-05-27T10:48:17Z</dcterms:created>
  <dcterms:modified xsi:type="dcterms:W3CDTF">2026-05-27T11:34:45Z</dcterms:modified>
</cp:coreProperties>
</file>